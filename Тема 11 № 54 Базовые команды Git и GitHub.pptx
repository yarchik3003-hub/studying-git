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304" r:id="rId2"/>
    <p:sldId id="318" r:id="rId3"/>
    <p:sldId id="320" r:id="rId4"/>
    <p:sldId id="319" r:id="rId5"/>
    <p:sldId id="324" r:id="rId6"/>
    <p:sldId id="325" r:id="rId7"/>
    <p:sldId id="316" r:id="rId8"/>
    <p:sldId id="326" r:id="rId9"/>
    <p:sldId id="327" r:id="rId10"/>
    <p:sldId id="328" r:id="rId11"/>
    <p:sldId id="329" r:id="rId12"/>
    <p:sldId id="321" r:id="rId13"/>
    <p:sldId id="322" r:id="rId14"/>
    <p:sldId id="323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56" r:id="rId28"/>
    <p:sldId id="357" r:id="rId29"/>
    <p:sldId id="358" r:id="rId30"/>
    <p:sldId id="359" r:id="rId31"/>
    <p:sldId id="352" r:id="rId32"/>
    <p:sldId id="349" r:id="rId33"/>
    <p:sldId id="350" r:id="rId34"/>
    <p:sldId id="351" r:id="rId35"/>
    <p:sldId id="347" r:id="rId36"/>
    <p:sldId id="353" r:id="rId37"/>
    <p:sldId id="354" r:id="rId38"/>
    <p:sldId id="355" r:id="rId39"/>
    <p:sldId id="345" r:id="rId40"/>
    <p:sldId id="348" r:id="rId41"/>
    <p:sldId id="346" r:id="rId42"/>
    <p:sldId id="360" r:id="rId43"/>
    <p:sldId id="361" r:id="rId44"/>
    <p:sldId id="342" r:id="rId45"/>
    <p:sldId id="343" r:id="rId46"/>
    <p:sldId id="317" r:id="rId47"/>
    <p:sldId id="344" r:id="rId4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99A89-FF38-4496-BEC7-2F323F3CACAB}" type="datetimeFigureOut">
              <a:rPr lang="uk-UA" smtClean="0"/>
              <a:t>06.06.2026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2993A-1EDD-4736-B8D4-63F3F40DE81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3623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BC6905-1C70-4AE0-B11E-9F756F759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C8C47C-5BF9-4C83-8F5D-A32B41FAE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E83C46-C33B-41D3-B8DE-A26EF617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041F-1A0A-4230-B3F6-D92A70568C4C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540C9B-6FD7-43EC-BB8E-616B0C25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5207DC-6ED6-4678-B53D-3E51B425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E1A2-2879-4D4C-82E6-7CC448856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84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50F048-8171-40D8-AA65-425AFDA4A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B17B7E-F3DF-4678-9A96-71CB6CC7A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D0B3FF-B85A-4867-B428-1B5A384F8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041F-1A0A-4230-B3F6-D92A70568C4C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49238B-A101-4506-8052-EB36F119F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1D7744-1DE8-4DEE-AE6B-DE47D0EE8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E1A2-2879-4D4C-82E6-7CC448856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04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070C4F-4DE3-4011-988E-EBEE7CAEE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2B29A9-C51E-4CE3-A2A4-4EC2BE8E6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A1A2E7-89C3-49BA-BF66-71AB0E4B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041F-1A0A-4230-B3F6-D92A70568C4C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CB6CAC-0823-4957-B15B-595BD381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6014A7-B9A4-4F28-B844-E9CB82C6C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E1A2-2879-4D4C-82E6-7CC448856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68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C5F4A9-031B-4DEA-90DA-785F290B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C60526-924B-414B-9DEA-C692350CF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CA5002-C084-4154-8E6B-462A60E3F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CE1E51-FC72-4E0B-93ED-40EFDA8F0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041F-1A0A-4230-B3F6-D92A70568C4C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0EF636-84D9-4EBC-8B73-8BCBF81A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E72BBA-3D16-4579-B362-8F082DE2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E1A2-2879-4D4C-82E6-7CC448856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269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A6B1F9-37B9-4938-B3B8-ECC0B0BE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A85311-6A3B-4C39-80D7-793BF4136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B2A0EA-2287-4856-9465-9F439D7F5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9E36AB2-4CE7-47A8-9384-BEF757874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C0A5A7D-322A-479B-A3C2-C8688542A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56691A0-ED0E-4A6C-9B9B-4C222DDB6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041F-1A0A-4230-B3F6-D92A70568C4C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FB76292-A529-4A44-B874-0BC3BFEA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5C10D30-63DF-4472-9563-E3C46E7D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E1A2-2879-4D4C-82E6-7CC448856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310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90A75-2740-4BD8-86EC-73BAEDBAC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6CBE586-F6B9-4644-94C6-C2B0D88D5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041F-1A0A-4230-B3F6-D92A70568C4C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280E08-D130-4D25-A135-7CB20D58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9295F8-B7A7-44D7-A7BE-6A28173BE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E1A2-2879-4D4C-82E6-7CC448856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4782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CF69E0-BDF6-4721-AFDC-FFE37C8D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041F-1A0A-4230-B3F6-D92A70568C4C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9522714-ED9E-42C4-8742-A56F55595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6D0AA1-D3C1-4760-A292-45B1C98A6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E1A2-2879-4D4C-82E6-7CC448856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62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0417C3-98CC-442A-A1B4-47C7AAD6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8A03F1-66CE-4562-906A-91FF8C10B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84052-09E9-4CD1-BDB4-30B4CF29C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106F79-DE68-4AF4-94E8-A460A6672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041F-1A0A-4230-B3F6-D92A70568C4C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36C9C6-4012-4C95-A7CF-0951A041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A82378-26AD-4CA3-B24F-7218A873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E1A2-2879-4D4C-82E6-7CC448856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909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180ECD-A884-4FC7-B745-1D9F62F64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43B25-A2F4-4130-A884-1AD289CE94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36D89B-EF42-4BB9-BE6E-3E3676464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D4A1D5-6C28-43E4-B721-68D4139D7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041F-1A0A-4230-B3F6-D92A70568C4C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DE500A-4D4D-4FC8-9846-5A5C5E9A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AD9C00-221E-48F6-B59D-86496A16B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E1A2-2879-4D4C-82E6-7CC448856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48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31816-382D-4E68-A6F9-9E2CAF53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23EADE-175C-4988-9EA6-483F9A154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DD738A-BC16-4B20-8E4A-F13A20CB6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041F-1A0A-4230-B3F6-D92A70568C4C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0FED62-5E26-4870-81BF-7D0992DDD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FAD0AD-F9B9-4EA1-A189-224FDC96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E1A2-2879-4D4C-82E6-7CC448856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81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30B1239-8869-4DD7-9A6E-15715B924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A217F1-3342-4E2C-A0B7-85139A87B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CA5AF-0223-46D6-B31B-00E5BFA0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041F-1A0A-4230-B3F6-D92A70568C4C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D784CA-7548-4D26-937C-4A702554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BCF4B8-0BEC-475E-A41B-6ECB553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E1A2-2879-4D4C-82E6-7CC448856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31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4B4017-BA25-4074-AE38-934F46F11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B27AF9-5090-4533-81B6-5ADACC718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AB0E25-C5A1-4B66-87E6-9BAD9F0E2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7041F-1A0A-4230-B3F6-D92A70568C4C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03BC9B-034A-4CAE-903A-DC75E4056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054F5E-2425-4215-A294-6D4B6058F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6E1A2-2879-4D4C-82E6-7CC448856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90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ulia0805/TestForDA.git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github.com/Julia0805/TestForDA.git" TargetMode="Externa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lib.io/p/git-cheatsheet" TargetMode="External"/><Relationship Id="rId2" Type="http://schemas.openxmlformats.org/officeDocument/2006/relationships/hyperlink" Target="https://github.com/cyberspacedk/Git-command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E62A0F-07AB-48FB-AC9E-25CF63E15A64}"/>
              </a:ext>
            </a:extLst>
          </p:cNvPr>
          <p:cNvSpPr txBox="1"/>
          <p:nvPr/>
        </p:nvSpPr>
        <p:spPr>
          <a:xfrm>
            <a:off x="386780" y="5406820"/>
            <a:ext cx="47948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Преподаватель</a:t>
            </a:r>
            <a:endParaRPr lang="uk-UA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PhD </a:t>
            </a:r>
            <a:r>
              <a:rPr lang="uk-UA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Юлия Литвинчук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F3F8A-0486-4E1D-9F70-08B1EEE6A7C8}"/>
              </a:ext>
            </a:extLst>
          </p:cNvPr>
          <p:cNvSpPr txBox="1"/>
          <p:nvPr/>
        </p:nvSpPr>
        <p:spPr>
          <a:xfrm>
            <a:off x="3048000" y="3208335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ru-RU" sz="3200" dirty="0">
              <a:latin typeface="Arial Black" panose="020B0A04020102020204" pitchFamily="34" charset="0"/>
            </a:endParaRPr>
          </a:p>
          <a:p>
            <a:pPr algn="ctr"/>
            <a:r>
              <a:rPr lang="ru-RU" sz="3200" b="1" dirty="0">
                <a:latin typeface="Arial "/>
              </a:rPr>
              <a:t>Занятие </a:t>
            </a:r>
            <a:r>
              <a:rPr lang="en-US" sz="3200" b="1" dirty="0">
                <a:latin typeface="Arial "/>
              </a:rPr>
              <a:t>54</a:t>
            </a:r>
            <a:endParaRPr lang="uk-UA" sz="3200" b="1" dirty="0">
              <a:latin typeface="Arial 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A4B49-44A8-A4AD-22F5-B642A34A7BB3}"/>
              </a:ext>
            </a:extLst>
          </p:cNvPr>
          <p:cNvSpPr txBox="1"/>
          <p:nvPr/>
        </p:nvSpPr>
        <p:spPr>
          <a:xfrm>
            <a:off x="691579" y="1777998"/>
            <a:ext cx="112163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rgbClr val="0F1115"/>
                </a:solidFill>
                <a:effectLst/>
                <a:latin typeface="quote-cjk-patch"/>
              </a:rPr>
              <a:t>Контроль версий</a:t>
            </a:r>
            <a:r>
              <a:rPr lang="en-US" sz="3600" b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uk-UA" sz="3600" b="1" dirty="0">
                <a:solidFill>
                  <a:srgbClr val="0F1115"/>
                </a:solidFill>
                <a:effectLst/>
                <a:latin typeface="quote-cjk-patch"/>
              </a:rPr>
              <a:t>и</a:t>
            </a:r>
            <a:r>
              <a:rPr lang="ru-RU" sz="3600" b="1" dirty="0">
                <a:solidFill>
                  <a:srgbClr val="0F1115"/>
                </a:solidFill>
                <a:effectLst/>
                <a:latin typeface="quote-cjk-patch"/>
              </a:rPr>
              <a:t> команды </a:t>
            </a:r>
            <a:r>
              <a:rPr lang="ru-RU" sz="3600" b="1" dirty="0" err="1">
                <a:solidFill>
                  <a:srgbClr val="0F1115"/>
                </a:solidFill>
                <a:effectLst/>
                <a:latin typeface="quote-cjk-patch"/>
              </a:rPr>
              <a:t>Git</a:t>
            </a:r>
            <a:endParaRPr lang="ru-RU" sz="3600" b="1" dirty="0">
              <a:solidFill>
                <a:srgbClr val="0F1115"/>
              </a:solidFill>
              <a:latin typeface="quote-cjk-patch"/>
            </a:endParaRPr>
          </a:p>
          <a:p>
            <a:pPr algn="ctr"/>
            <a:r>
              <a:rPr lang="ru-RU" sz="3600" b="1" dirty="0">
                <a:solidFill>
                  <a:srgbClr val="0F1115"/>
                </a:solidFill>
                <a:effectLst/>
                <a:latin typeface="quote-cjk-patch"/>
              </a:rPr>
              <a:t> Работа с </a:t>
            </a:r>
            <a:r>
              <a:rPr lang="en-US" sz="3600" b="1" dirty="0">
                <a:solidFill>
                  <a:srgbClr val="0F1115"/>
                </a:solidFill>
                <a:effectLst/>
                <a:latin typeface="quote-cjk-patch"/>
              </a:rPr>
              <a:t>GitHub</a:t>
            </a:r>
            <a:endParaRPr lang="ru-RU" sz="36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14229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B8EB9A-01B5-4DF7-8613-F3BF1501AC73}"/>
              </a:ext>
            </a:extLst>
          </p:cNvPr>
          <p:cNvSpPr txBox="1"/>
          <p:nvPr/>
        </p:nvSpPr>
        <p:spPr>
          <a:xfrm>
            <a:off x="241739" y="454767"/>
            <a:ext cx="6348248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  <a:t>	До этого мы работали локально, простыми словами у себя на компьютере. Но нам нужно хранить проекты удаленно, чтобы работать с ними из любой точки. Доступ будет у всех, у кого есть ссылка. </a:t>
            </a:r>
            <a:r>
              <a:rPr lang="ru-RU" sz="2200" i="0" dirty="0" err="1">
                <a:solidFill>
                  <a:srgbClr val="000000"/>
                </a:solidFill>
                <a:effectLst/>
                <a:latin typeface="TimesNewRomanPSMT"/>
              </a:rPr>
              <a:t>GitHub</a:t>
            </a:r>
            <a: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  <a:t> необходим проектам с частыми обновлениями, множеством версий, большим количеством файлов, необходимостью синхронизации разработки и удобного развёртывания, что в командной разработке (в основном в крупных и средних IT-компаниях) незаменимая вещь. Перед подключением локального репозитория </a:t>
            </a:r>
            <a:r>
              <a:rPr lang="ru-RU" sz="2200" i="0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  <a:t> к удаленному репозиторию </a:t>
            </a:r>
            <a:r>
              <a:rPr lang="ru-RU" sz="2200" i="0" dirty="0" err="1">
                <a:solidFill>
                  <a:srgbClr val="000000"/>
                </a:solidFill>
                <a:effectLst/>
                <a:latin typeface="TimesNewRomanPSMT"/>
              </a:rPr>
              <a:t>GitHub</a:t>
            </a:r>
            <a: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  <a:t> нужно создать этот удаленный репозиторий на </a:t>
            </a:r>
            <a:r>
              <a:rPr lang="en-US" sz="2200" i="0" dirty="0" err="1">
                <a:solidFill>
                  <a:srgbClr val="000000"/>
                </a:solidFill>
                <a:effectLst/>
                <a:latin typeface="TimesNewRomanPSMT"/>
              </a:rPr>
              <a:t>Github</a:t>
            </a:r>
            <a:endParaRPr lang="ru-RU" sz="2200" i="0" dirty="0">
              <a:solidFill>
                <a:srgbClr val="000000"/>
              </a:solidFill>
              <a:effectLst/>
              <a:latin typeface="TimesNewRomanPSMT"/>
            </a:endParaRPr>
          </a:p>
          <a:p>
            <a:pPr algn="just"/>
            <a: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  <a:t>	Нажимаем кнопку New и создаем новый репозиторий (заполняем поля).</a:t>
            </a:r>
            <a:b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400B88-CE4B-4110-B157-F6AA7FD50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632" y="454767"/>
            <a:ext cx="4658375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978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1938F6E-BD73-458D-9799-384DA2290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185"/>
            <a:ext cx="8892674" cy="295383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D07D82-8CBE-4F80-BC74-E8F2914BB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476" y="2676858"/>
            <a:ext cx="7136524" cy="3583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C3F84A-DF11-4E61-B8CF-67F90D77CFA0}"/>
              </a:ext>
            </a:extLst>
          </p:cNvPr>
          <p:cNvSpPr txBox="1"/>
          <p:nvPr/>
        </p:nvSpPr>
        <p:spPr>
          <a:xfrm>
            <a:off x="546538" y="3633300"/>
            <a:ext cx="46140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Поле Описание не обязательно. Но если вы работаете над серьезным</a:t>
            </a:r>
          </a:p>
          <a:p>
            <a:r>
              <a:rPr lang="ru-RU" dirty="0"/>
              <a:t>проектом, то следует не оставлять поле без внимания. Детально и подробно</a:t>
            </a:r>
          </a:p>
          <a:p>
            <a:r>
              <a:rPr lang="ru-RU" dirty="0"/>
              <a:t>проект нужно описать в файле README.</a:t>
            </a:r>
          </a:p>
          <a:p>
            <a:r>
              <a:rPr lang="ru-RU" dirty="0"/>
              <a:t>Затем указываем, будет ли наш проект публичным (т.е. все смогут его</a:t>
            </a:r>
          </a:p>
          <a:p>
            <a:r>
              <a:rPr lang="ru-RU" dirty="0"/>
              <a:t>видеть), или приватным.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77742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B39890-220B-4397-8D7D-5D8A06803976}"/>
              </a:ext>
            </a:extLst>
          </p:cNvPr>
          <p:cNvSpPr txBox="1"/>
          <p:nvPr/>
        </p:nvSpPr>
        <p:spPr>
          <a:xfrm>
            <a:off x="1156137" y="279313"/>
            <a:ext cx="84713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Нажимаем на кнопку Создать репозиторий и переходим на страницу: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B34441-5BBE-400D-91FE-97F5711A8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13" y="925644"/>
            <a:ext cx="8461259" cy="44836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60EFE8-C778-476F-9B10-26468D22A5D3}"/>
              </a:ext>
            </a:extLst>
          </p:cNvPr>
          <p:cNvSpPr txBox="1"/>
          <p:nvPr/>
        </p:nvSpPr>
        <p:spPr>
          <a:xfrm>
            <a:off x="935420" y="5932356"/>
            <a:ext cx="107625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Репозиторий создан и теперь нужно загрузить проект на данный удаленный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репозиторий.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82804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7103D0-6984-4866-88CE-63C9390EE46A}"/>
              </a:ext>
            </a:extLst>
          </p:cNvPr>
          <p:cNvSpPr txBox="1"/>
          <p:nvPr/>
        </p:nvSpPr>
        <p:spPr>
          <a:xfrm>
            <a:off x="1098330" y="709465"/>
            <a:ext cx="10363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Используя протокол SSH, вы можете подключаться к удалённым серверам и сервисам и проходить аутентификацию. С помощью SSH-ключей вы можете подключаться к </a:t>
            </a:r>
            <a:r>
              <a:rPr lang="ru-RU" sz="2000" dirty="0" err="1"/>
              <a:t>GitHub</a:t>
            </a:r>
            <a:r>
              <a:rPr lang="ru-RU" sz="2000" dirty="0"/>
              <a:t>, не вводя при каждом посещении своё имя пользователя и персональный токен доступа. Вы также можете использовать SSH-ключ для подписи коммитов.</a:t>
            </a:r>
            <a:endParaRPr lang="uk-UA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E13B84-936C-4291-ABAF-4DBD694E1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330" y="2071612"/>
            <a:ext cx="10247586" cy="14480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76395A-F75C-46DF-B41E-46CCBFB3728F}"/>
              </a:ext>
            </a:extLst>
          </p:cNvPr>
          <p:cNvSpPr txBox="1"/>
          <p:nvPr/>
        </p:nvSpPr>
        <p:spPr>
          <a:xfrm>
            <a:off x="1166648" y="4591797"/>
            <a:ext cx="95328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remote add origin https://github.com/Julia0805/studing-Git.git</a:t>
            </a:r>
          </a:p>
          <a:p>
            <a:r>
              <a:rPr lang="en-US" dirty="0"/>
              <a:t>git branch -M main</a:t>
            </a:r>
          </a:p>
          <a:p>
            <a:r>
              <a:rPr lang="en-US" dirty="0"/>
              <a:t>git push -u origin main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AB2C2-5253-49C2-97FF-82150C551CB5}"/>
              </a:ext>
            </a:extLst>
          </p:cNvPr>
          <p:cNvSpPr txBox="1"/>
          <p:nvPr/>
        </p:nvSpPr>
        <p:spPr>
          <a:xfrm>
            <a:off x="1166648" y="3829852"/>
            <a:ext cx="98587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“Зальем” все наши изменения на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Github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 (добавим удаленный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репозиторий к локальному)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en-US" sz="1800" i="0" dirty="0">
              <a:solidFill>
                <a:srgbClr val="000000"/>
              </a:solidFill>
              <a:effectLst/>
              <a:latin typeface="TimesNewRomanPSMT"/>
            </a:endParaRPr>
          </a:p>
        </p:txBody>
      </p:sp>
    </p:spTree>
    <p:extLst>
      <p:ext uri="{BB962C8B-B14F-4D97-AF65-F5344CB8AC3E}">
        <p14:creationId xmlns:p14="http://schemas.microsoft.com/office/powerpoint/2010/main" val="107843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2B096C-1B6F-48B9-B9E4-656DFA081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385" y="776094"/>
            <a:ext cx="11445765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remote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origin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https://github.com//studying-Git.git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Что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делает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Связывает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ваш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локальный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репозиторий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с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удаленным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проектом на сервере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GitHub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Как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работает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Она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добавляет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строка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remote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новый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адрес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удаленного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репозитория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Слово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origin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—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это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просто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стандартное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имя-ярлык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псевдоним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),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которое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Git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будет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использовать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внутри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вашей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системы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вместо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того,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чтобы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каждый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раз заставлять вас вводить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длинную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ссылку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E8296F-AE15-4AA4-80C4-77C7FC875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385" y="2874210"/>
            <a:ext cx="11083159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-M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Что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делает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Переименовывает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вашу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текущую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локальную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ветку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Зачем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это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нужно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Исторически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Git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ветка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по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умолчанию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называлась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Сейчас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стандартом на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GitHub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является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имя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Флаг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-M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принудительно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переименовывает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ветку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гарантируя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что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имя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вашей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локальной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ветки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будет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точности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совпадать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с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именем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ветки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на сервере,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что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предотвратит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ошибки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при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отправке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файлов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6D530E-E552-42E9-B3DF-CBEBEE43F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385" y="5197416"/>
            <a:ext cx="1084667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-u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origin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Что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делает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Выгружает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публикует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ваши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закоммиченные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файлы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и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историю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изменений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с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компьютера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на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GitHub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592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C38972D-7F4A-4ABA-8414-11C3759B6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324" y="284001"/>
            <a:ext cx="10158435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Создайте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токен на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GitHub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Войдите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свой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аккаунт на сайте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GitHub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Перейдите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Settings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(Настройки)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вашего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профиля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(справа вверху).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Прокрутите меню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слева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вниз и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нажмите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Developer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Settings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Выберите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Personal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access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tokens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-&gt;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Tokens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classic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Нажмите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Generate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new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token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-&gt;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Generate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new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token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classic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 поле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Note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укажите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любое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имя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например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my-git-token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разделе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Select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scopes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обязательно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отметьте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галочкой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пункт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repo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управление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репозиториями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Нажмите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Generate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token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внизу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страницы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Скопируйте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токен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и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сохраните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его.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После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закрытия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страницы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увидеть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его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снова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будет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нельзя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  <a:r>
              <a:rPr lang="ru-RU" sz="2400" dirty="0"/>
              <a:t> токен (PAT) нужно вставлять в поле "Password" в консоли, если </a:t>
            </a:r>
            <a:r>
              <a:rPr lang="ru-RU" sz="2400" dirty="0" err="1"/>
              <a:t>Git</a:t>
            </a:r>
            <a:r>
              <a:rPr lang="ru-RU" sz="2400" dirty="0"/>
              <a:t> запросит авторизацию вручную. 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555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9F5735-80A6-47F6-A941-C2DE10A5C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45" y="130669"/>
            <a:ext cx="11676993" cy="366356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E52E47-085C-4E1F-80D2-1BE12E283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33400"/>
            <a:ext cx="5549462" cy="399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30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C041E9-E142-44CB-9F5B-8FAC99F743C9}"/>
              </a:ext>
            </a:extLst>
          </p:cNvPr>
          <p:cNvSpPr txBox="1"/>
          <p:nvPr/>
        </p:nvSpPr>
        <p:spPr>
          <a:xfrm>
            <a:off x="415158" y="351022"/>
            <a:ext cx="113616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Измените файл, сделайте второй коммит “My </a:t>
            </a:r>
            <a:r>
              <a:rPr lang="ru-RU" sz="2000" i="0" dirty="0" err="1">
                <a:solidFill>
                  <a:srgbClr val="000000"/>
                </a:solidFill>
                <a:effectLst/>
                <a:latin typeface="TimesNewRomanPSMT"/>
              </a:rPr>
              <a:t>second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000" i="0" dirty="0" err="1">
                <a:solidFill>
                  <a:srgbClr val="000000"/>
                </a:solidFill>
                <a:effectLst/>
                <a:latin typeface="TimesNewRomanPSMT"/>
              </a:rPr>
              <a:t>commit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”,</a:t>
            </a:r>
            <a:r>
              <a:rPr lang="en-US" sz="20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проверьте статус и добавьте его к удаленному репозиторию</a:t>
            </a:r>
            <a:b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026565-0D14-4A5F-AE96-A5FFAE1DF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02" y="1171233"/>
            <a:ext cx="9038897" cy="533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3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035B23-2D4F-4E3E-8567-C0F0CB318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69" y="82688"/>
            <a:ext cx="8515286" cy="346891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801469-03C4-4E6E-AD6D-D219238EB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182" y="3551602"/>
            <a:ext cx="8820049" cy="32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344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06337C-06DE-4161-AF98-89D6847E9E05}"/>
              </a:ext>
            </a:extLst>
          </p:cNvPr>
          <p:cNvSpPr txBox="1"/>
          <p:nvPr/>
        </p:nvSpPr>
        <p:spPr>
          <a:xfrm>
            <a:off x="1523999" y="489520"/>
            <a:ext cx="6800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На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GitHub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 можно посмотреть все наши коммиты:</a:t>
            </a: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685405-FBA9-44BD-AAD6-C20DD7A6C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66" y="1268451"/>
            <a:ext cx="11195979" cy="448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31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121A4E-84BA-47C4-B6BD-4245109B9B5F}"/>
              </a:ext>
            </a:extLst>
          </p:cNvPr>
          <p:cNvSpPr txBox="1"/>
          <p:nvPr/>
        </p:nvSpPr>
        <p:spPr>
          <a:xfrm>
            <a:off x="1345324" y="388147"/>
            <a:ext cx="98902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За историю коммитов отвечает команда</a:t>
            </a:r>
            <a:r>
              <a:rPr lang="en-US" sz="2400" dirty="0"/>
              <a:t>     </a:t>
            </a:r>
            <a:r>
              <a:rPr lang="en-US" sz="2400" i="1" dirty="0">
                <a:solidFill>
                  <a:srgbClr val="000000"/>
                </a:solidFill>
                <a:effectLst/>
              </a:rPr>
              <a:t> git log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45F670-C102-428B-9239-12542FB2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76" y="1145572"/>
            <a:ext cx="10450383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37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8552B1-ECA1-4FAE-ABA3-210B44033C58}"/>
              </a:ext>
            </a:extLst>
          </p:cNvPr>
          <p:cNvSpPr txBox="1"/>
          <p:nvPr/>
        </p:nvSpPr>
        <p:spPr>
          <a:xfrm>
            <a:off x="341585" y="128239"/>
            <a:ext cx="113616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Чтобы подробно изучить изменения, внесенные в каждый файл,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следует добавить к команде флаг –p: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log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-p</a:t>
            </a:r>
            <a:endParaRPr lang="uk-UA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3AF517-38DB-4139-8F5E-F52CF9229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720" y="602280"/>
            <a:ext cx="7972577" cy="597194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F26657B-4A42-4A76-A4D2-662D39EC53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815" b="-583"/>
          <a:stretch/>
        </p:blipFill>
        <p:spPr>
          <a:xfrm>
            <a:off x="341585" y="4629329"/>
            <a:ext cx="3440703" cy="19733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85C163-5EFA-44EB-9CD8-B8BC981B838E}"/>
              </a:ext>
            </a:extLst>
          </p:cNvPr>
          <p:cNvSpPr txBox="1"/>
          <p:nvPr/>
        </p:nvSpPr>
        <p:spPr>
          <a:xfrm>
            <a:off x="178676" y="2150900"/>
            <a:ext cx="3440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Чтобы покинуть программу вывода, нужно нажать клавишу q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(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quit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 - покинуть).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5194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64A804-F226-4E97-925D-A4B952E7581F}"/>
              </a:ext>
            </a:extLst>
          </p:cNvPr>
          <p:cNvSpPr txBox="1"/>
          <p:nvPr/>
        </p:nvSpPr>
        <p:spPr>
          <a:xfrm>
            <a:off x="924909" y="517322"/>
            <a:ext cx="110673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Сделаем вывод более удобным для чтения, с помощью команды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log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--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oneline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выведем только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id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коммита и сообщение.</a:t>
            </a:r>
            <a:endParaRPr lang="uk-UA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835A8A-1186-4602-B865-09CEBDCFF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118" y="2031823"/>
            <a:ext cx="8760620" cy="22143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DC7F7F-FFC0-4D0B-AD59-79B3962F3305}"/>
              </a:ext>
            </a:extLst>
          </p:cNvPr>
          <p:cNvSpPr txBox="1"/>
          <p:nvPr/>
        </p:nvSpPr>
        <p:spPr>
          <a:xfrm>
            <a:off x="924909" y="4346817"/>
            <a:ext cx="69263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</a:rPr>
              <a:t>HEAD -&gt; </a:t>
            </a:r>
            <a:r>
              <a:rPr lang="ru-RU" sz="2400" i="0" dirty="0" err="1">
                <a:solidFill>
                  <a:srgbClr val="000000"/>
                </a:solidFill>
                <a:effectLst/>
              </a:rPr>
              <a:t>main</a:t>
            </a:r>
            <a:r>
              <a:rPr lang="ru-RU" sz="240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означает, что мы в ветке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main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93005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907A14-80C9-451C-BD24-E1FFF8515E96}"/>
              </a:ext>
            </a:extLst>
          </p:cNvPr>
          <p:cNvSpPr txBox="1"/>
          <p:nvPr/>
        </p:nvSpPr>
        <p:spPr>
          <a:xfrm>
            <a:off x="599091" y="208268"/>
            <a:ext cx="108256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Просмотреть историю коммитов в виде графика для текущей ветки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можно с помощью флагов --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graph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log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--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graph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F05D0A-C88F-459A-918B-878A714D4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48" y="1394250"/>
            <a:ext cx="9930047" cy="525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80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5082A33-7C4C-4340-9A09-456243F00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75" y="1702681"/>
            <a:ext cx="10193173" cy="46297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3A11C0-F5DE-41DA-A9FC-78ED62B4C1ED}"/>
              </a:ext>
            </a:extLst>
          </p:cNvPr>
          <p:cNvSpPr txBox="1"/>
          <p:nvPr/>
        </p:nvSpPr>
        <p:spPr>
          <a:xfrm>
            <a:off x="609599" y="331865"/>
            <a:ext cx="107520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Чтобы изучить подробности последнего коммита d1327fd («Second </a:t>
            </a:r>
            <a:r>
              <a:rPr lang="ru-RU" sz="2400" dirty="0" err="1"/>
              <a:t>commit</a:t>
            </a:r>
            <a:r>
              <a:rPr lang="ru-RU" sz="2400" dirty="0"/>
              <a:t>»), выполните в терминале следующую команду</a:t>
            </a:r>
            <a:r>
              <a:rPr lang="en-US" sz="2400" dirty="0"/>
              <a:t> </a:t>
            </a:r>
            <a:r>
              <a:rPr lang="en-US" sz="2400" b="1" i="1" dirty="0"/>
              <a:t>git show d1327fd</a:t>
            </a:r>
            <a:endParaRPr lang="uk-UA" sz="2400" b="1" i="1" dirty="0"/>
          </a:p>
        </p:txBody>
      </p:sp>
    </p:spTree>
    <p:extLst>
      <p:ext uri="{BB962C8B-B14F-4D97-AF65-F5344CB8AC3E}">
        <p14:creationId xmlns:p14="http://schemas.microsoft.com/office/powerpoint/2010/main" val="3147341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AF1045-A729-4CF4-9CD4-1C2728C43175}"/>
              </a:ext>
            </a:extLst>
          </p:cNvPr>
          <p:cNvSpPr txBox="1"/>
          <p:nvPr/>
        </p:nvSpPr>
        <p:spPr>
          <a:xfrm>
            <a:off x="1051033" y="612844"/>
            <a:ext cx="1037371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Опция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--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graph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выведет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график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в формате 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ASCII,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отражающий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структуру</a:t>
            </a:r>
            <a:b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ветвления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истории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коммитов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. В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связке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с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флагами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--</a:t>
            </a:r>
            <a:r>
              <a:rPr lang="en-US" sz="2400" i="0" dirty="0" err="1">
                <a:solidFill>
                  <a:srgbClr val="000000"/>
                </a:solidFill>
                <a:effectLst/>
                <a:latin typeface="TimesNewRomanPSMT"/>
              </a:rPr>
              <a:t>oneline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и --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decorate,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этот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флаг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упрощает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понимание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того, к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какой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ветке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относится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каждый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коммит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:</a:t>
            </a:r>
            <a:b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sz="2400" i="1" dirty="0">
                <a:solidFill>
                  <a:srgbClr val="000000"/>
                </a:solidFill>
                <a:effectLst/>
                <a:latin typeface="TimesNewRomanPSMT"/>
              </a:rPr>
              <a:t>git log --graph --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TimesNewRomanPSMT"/>
              </a:rPr>
              <a:t>oneline</a:t>
            </a:r>
            <a:r>
              <a:rPr lang="en-US" sz="2400" i="1" dirty="0">
                <a:solidFill>
                  <a:srgbClr val="000000"/>
                </a:solidFill>
                <a:effectLst/>
                <a:latin typeface="TimesNewRomanPSMT"/>
              </a:rPr>
              <a:t> --decorate</a:t>
            </a:r>
            <a:b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Для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просмотра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истории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коммитов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по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всем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веткам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используется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флаг --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all.</a:t>
            </a:r>
            <a:b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sz="2400" i="1" dirty="0">
                <a:solidFill>
                  <a:srgbClr val="000000"/>
                </a:solidFill>
                <a:effectLst/>
                <a:latin typeface="TimesNewRomanPSMT"/>
              </a:rPr>
              <a:t>git log --all --graph --</a:t>
            </a:r>
            <a:r>
              <a:rPr lang="en-US" sz="2400" i="1" dirty="0" err="1">
                <a:solidFill>
                  <a:srgbClr val="000000"/>
                </a:solidFill>
                <a:effectLst/>
                <a:latin typeface="TimesNewRomanPSMT"/>
              </a:rPr>
              <a:t>oneline</a:t>
            </a:r>
            <a:r>
              <a:rPr lang="en-US" sz="2400" i="1" dirty="0">
                <a:solidFill>
                  <a:srgbClr val="000000"/>
                </a:solidFill>
                <a:effectLst/>
                <a:latin typeface="TimesNewRomanPSMT"/>
              </a:rPr>
              <a:t> –decorate</a:t>
            </a:r>
          </a:p>
          <a:p>
            <a:b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Если вы хотите получить заданное количество записей, то следует</a:t>
            </a:r>
          </a:p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ввести:</a:t>
            </a:r>
          </a:p>
          <a:p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log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–n количество</a:t>
            </a:r>
            <a:endParaRPr lang="en-US" sz="2400" i="0" dirty="0">
              <a:solidFill>
                <a:srgbClr val="000000"/>
              </a:solidFill>
              <a:effectLst/>
              <a:latin typeface="TimesNewRomanPSMT"/>
            </a:endParaRPr>
          </a:p>
          <a:p>
            <a:endParaRPr lang="en-US" sz="2400" dirty="0">
              <a:solidFill>
                <a:srgbClr val="000000"/>
              </a:solidFill>
              <a:latin typeface="TimesNewRomanPSMT"/>
            </a:endParaRPr>
          </a:p>
          <a:p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часто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бывает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полезен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поиск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по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дате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:</a:t>
            </a:r>
            <a:b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sz="2400" i="1" dirty="0">
                <a:solidFill>
                  <a:srgbClr val="000000"/>
                </a:solidFill>
                <a:effectLst/>
                <a:latin typeface="TimesNewRomanPSMT"/>
              </a:rPr>
              <a:t>git log --since=1.month.ago --until=1.weeks.ago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1888216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C515D2-2427-4DF6-9094-93ACDED0E7E0}"/>
              </a:ext>
            </a:extLst>
          </p:cNvPr>
          <p:cNvSpPr txBox="1"/>
          <p:nvPr/>
        </p:nvSpPr>
        <p:spPr>
          <a:xfrm>
            <a:off x="3570019" y="21747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1" i="0" dirty="0" err="1">
                <a:solidFill>
                  <a:srgbClr val="000000"/>
                </a:solidFill>
                <a:effectLst/>
                <a:latin typeface="TimesNewRomanPS-BoldMT"/>
              </a:rPr>
              <a:t>Работа</a:t>
            </a:r>
            <a:r>
              <a:rPr lang="uk-UA" sz="2400" b="1" i="0" dirty="0">
                <a:solidFill>
                  <a:srgbClr val="000000"/>
                </a:solidFill>
                <a:effectLst/>
                <a:latin typeface="TimesNewRomanPS-BoldMT"/>
              </a:rPr>
              <a:t> с </a:t>
            </a:r>
            <a:r>
              <a:rPr lang="uk-UA" sz="2400" b="1" i="0" dirty="0" err="1">
                <a:solidFill>
                  <a:srgbClr val="000000"/>
                </a:solidFill>
                <a:effectLst/>
                <a:latin typeface="TimesNewRomanPS-BoldMT"/>
              </a:rPr>
              <a:t>ветками</a:t>
            </a:r>
            <a:endParaRPr lang="uk-UA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EE486C-9975-45CD-9942-F87C2CE9912C}"/>
              </a:ext>
            </a:extLst>
          </p:cNvPr>
          <p:cNvSpPr txBox="1"/>
          <p:nvPr/>
        </p:nvSpPr>
        <p:spPr>
          <a:xfrm>
            <a:off x="719959" y="674399"/>
            <a:ext cx="9753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Для работы с ветками в первую очередь необходимы две команды:</a:t>
            </a:r>
            <a:b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Создать ветку с помощью команды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MT"/>
              </a:rPr>
              <a:t>branch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-ItalicMT"/>
              </a:rPr>
              <a:t>имя_ветки</a:t>
            </a:r>
            <a:br>
              <a:rPr lang="ru-RU" sz="2000" i="0" dirty="0">
                <a:solidFill>
                  <a:srgbClr val="000000"/>
                </a:solidFill>
                <a:effectLst/>
                <a:latin typeface="TimesNewRomanPS-ItalicMT"/>
              </a:rPr>
            </a:b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Переключиться на </a:t>
            </a:r>
            <a:r>
              <a:rPr lang="ru-RU" sz="2000" i="0" dirty="0" err="1">
                <a:solidFill>
                  <a:srgbClr val="000000"/>
                </a:solidFill>
                <a:effectLst/>
                <a:latin typeface="TimesNewRomanPSMT"/>
              </a:rPr>
              <a:t>свежесозданную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 ветку с помощью команды </a:t>
            </a:r>
            <a:endParaRPr lang="en-US" sz="2000" i="0" dirty="0">
              <a:solidFill>
                <a:srgbClr val="000000"/>
              </a:solidFill>
              <a:effectLst/>
              <a:latin typeface="TimesNewRomanPSMT"/>
            </a:endParaRPr>
          </a:p>
          <a:p>
            <a:r>
              <a:rPr lang="ru-RU" sz="20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MT"/>
              </a:rPr>
              <a:t>checkout</a:t>
            </a:r>
            <a:r>
              <a:rPr lang="en-US" sz="2000" i="1" dirty="0">
                <a:solidFill>
                  <a:srgbClr val="000000"/>
                </a:solidFill>
                <a:effectLst/>
                <a:latin typeface="TimesNewRomanPSMT"/>
              </a:rPr>
              <a:t>  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-ItalicMT"/>
              </a:rPr>
              <a:t>&lt;имя ветки&gt;</a:t>
            </a:r>
            <a:br>
              <a:rPr lang="ru-RU" sz="2000" i="0" dirty="0">
                <a:solidFill>
                  <a:srgbClr val="000000"/>
                </a:solidFill>
                <a:effectLst/>
                <a:latin typeface="TimesNewRomanPS-ItalicMT"/>
              </a:rPr>
            </a:b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Создадим ветку </a:t>
            </a:r>
            <a:r>
              <a:rPr lang="ru-RU" sz="2000" i="0" dirty="0" err="1">
                <a:solidFill>
                  <a:srgbClr val="000000"/>
                </a:solidFill>
                <a:effectLst/>
                <a:latin typeface="TimesNewRomanPSMT"/>
              </a:rPr>
              <a:t>feature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 и переключимся на нее.</a:t>
            </a:r>
            <a:b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</a:br>
            <a:b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0C2BB0-F67A-4E65-A4FD-BF29BF0B8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59" y="2351594"/>
            <a:ext cx="8741108" cy="2052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34C456-EB17-45BF-B13F-39DF371C6F87}"/>
              </a:ext>
            </a:extLst>
          </p:cNvPr>
          <p:cNvSpPr txBox="1"/>
          <p:nvPr/>
        </p:nvSpPr>
        <p:spPr>
          <a:xfrm>
            <a:off x="719959" y="4593623"/>
            <a:ext cx="93436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Как мы видим,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 написал “Переключился на ветку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feature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” и сменил ветку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main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 на новую созданную ветку.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Команда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branch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без указания имени ветки выводит список всех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локальных веток в текущей директории: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B2C9EDA-E20D-40AF-8CAB-2449A1AE1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717" y="5678705"/>
            <a:ext cx="5725324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42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3F9ABD-B913-4B60-AF9F-B0015F1F8F13}"/>
              </a:ext>
            </a:extLst>
          </p:cNvPr>
          <p:cNvSpPr txBox="1"/>
          <p:nvPr/>
        </p:nvSpPr>
        <p:spPr>
          <a:xfrm>
            <a:off x="772510" y="328135"/>
            <a:ext cx="106469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Команда </a:t>
            </a:r>
            <a:r>
              <a:rPr lang="ru-RU" sz="2000" dirty="0" err="1"/>
              <a:t>git</a:t>
            </a:r>
            <a:r>
              <a:rPr lang="ru-RU" sz="2000" dirty="0"/>
              <a:t> </a:t>
            </a:r>
            <a:r>
              <a:rPr lang="ru-RU" sz="2000" dirty="0" err="1"/>
              <a:t>checkout</a:t>
            </a:r>
            <a:r>
              <a:rPr lang="ru-RU" sz="2000" dirty="0"/>
              <a:t> –b как бы объединяет вышеуказанные команды:</a:t>
            </a:r>
          </a:p>
          <a:p>
            <a:r>
              <a:rPr lang="ru-RU" sz="2000" dirty="0"/>
              <a:t>она и создает ветку, и переключается на нее. Создадим новую ветку </a:t>
            </a:r>
            <a:r>
              <a:rPr lang="ru-RU" sz="2000" dirty="0" err="1"/>
              <a:t>vetka</a:t>
            </a:r>
            <a:r>
              <a:rPr lang="ru-RU" sz="2000" dirty="0"/>
              <a:t> и</a:t>
            </a:r>
          </a:p>
          <a:p>
            <a:r>
              <a:rPr lang="ru-RU" sz="2000" dirty="0"/>
              <a:t>перейдем на нее, используя одну команду.</a:t>
            </a:r>
            <a:endParaRPr lang="uk-UA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63C81E-85B9-442B-BD07-CD27F675F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07" y="1431254"/>
            <a:ext cx="8306959" cy="724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7621F3-6177-4396-862A-CBEEC8B32FDC}"/>
              </a:ext>
            </a:extLst>
          </p:cNvPr>
          <p:cNvSpPr txBox="1"/>
          <p:nvPr/>
        </p:nvSpPr>
        <p:spPr>
          <a:xfrm>
            <a:off x="772510" y="2242711"/>
            <a:ext cx="106469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1" dirty="0" err="1">
                <a:solidFill>
                  <a:srgbClr val="000000"/>
                </a:solidFill>
                <a:effectLst/>
              </a:rPr>
              <a:t>git</a:t>
            </a:r>
            <a:r>
              <a:rPr lang="ru-RU" sz="1800" i="1" dirty="0">
                <a:solidFill>
                  <a:srgbClr val="000000"/>
                </a:solidFill>
                <a:effectLst/>
              </a:rPr>
              <a:t> </a:t>
            </a:r>
            <a:r>
              <a:rPr lang="ru-RU" sz="1800" i="1" dirty="0" err="1">
                <a:solidFill>
                  <a:srgbClr val="000000"/>
                </a:solidFill>
                <a:effectLst/>
              </a:rPr>
              <a:t>checkout</a:t>
            </a:r>
            <a:r>
              <a:rPr lang="ru-RU" sz="1800" i="1" dirty="0">
                <a:solidFill>
                  <a:srgbClr val="000000"/>
                </a:solidFill>
                <a:effectLst/>
              </a:rPr>
              <a:t> -b &lt;</a:t>
            </a:r>
            <a:r>
              <a:rPr lang="ru-RU" sz="1800" i="1" dirty="0" err="1">
                <a:solidFill>
                  <a:srgbClr val="000000"/>
                </a:solidFill>
                <a:effectLst/>
              </a:rPr>
              <a:t>name</a:t>
            </a:r>
            <a:r>
              <a:rPr lang="ru-RU" sz="1800" i="1" dirty="0">
                <a:solidFill>
                  <a:srgbClr val="000000"/>
                </a:solidFill>
                <a:effectLst/>
              </a:rPr>
              <a:t>&gt; &lt;</a:t>
            </a:r>
            <a:r>
              <a:rPr lang="ru-RU" sz="1800" i="1" dirty="0" err="1">
                <a:solidFill>
                  <a:srgbClr val="000000"/>
                </a:solidFill>
                <a:effectLst/>
              </a:rPr>
              <a:t>remote</a:t>
            </a:r>
            <a:r>
              <a:rPr lang="ru-RU" sz="1800" i="1" dirty="0">
                <a:solidFill>
                  <a:srgbClr val="000000"/>
                </a:solidFill>
                <a:effectLst/>
              </a:rPr>
              <a:t>&gt;/&lt;</a:t>
            </a:r>
            <a:r>
              <a:rPr lang="ru-RU" sz="1800" i="1" dirty="0" err="1">
                <a:solidFill>
                  <a:srgbClr val="000000"/>
                </a:solidFill>
                <a:effectLst/>
              </a:rPr>
              <a:t>branch</a:t>
            </a:r>
            <a:r>
              <a:rPr lang="ru-RU" sz="1800" i="1" dirty="0">
                <a:solidFill>
                  <a:srgbClr val="000000"/>
                </a:solidFill>
                <a:effectLst/>
              </a:rPr>
              <a:t>&gt;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— переключиться на удаленную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ветку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checkout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[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filename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]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— вернуть файл в первоначальное состояние, если он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еще не был добавлен в индекс коммита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E3DFF2-DA40-496A-9824-A982F14BD9A2}"/>
              </a:ext>
            </a:extLst>
          </p:cNvPr>
          <p:cNvSpPr txBox="1"/>
          <p:nvPr/>
        </p:nvSpPr>
        <p:spPr>
          <a:xfrm>
            <a:off x="772510" y="3187971"/>
            <a:ext cx="99270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 err="1">
                <a:solidFill>
                  <a:srgbClr val="000000"/>
                </a:solidFill>
                <a:effectLst/>
              </a:rPr>
              <a:t>Git</a:t>
            </a:r>
            <a:r>
              <a:rPr lang="ru-RU" sz="1800" i="0" dirty="0">
                <a:solidFill>
                  <a:srgbClr val="000000"/>
                </a:solidFill>
                <a:effectLst/>
              </a:rPr>
              <a:t>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хранит специальный указатель HEAD — это указатель на текущую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локальную ветку. При помощи известной команды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log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--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oneline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NewRomanPSMT"/>
              </a:rPr>
              <a:t> --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decorate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посмотрим куда указывают указатели веток: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1FED85-3476-417D-BBEC-E6B2DD4A4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53" y="4189665"/>
            <a:ext cx="9869277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27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50EAE7-071C-4955-A53B-9C7A23D5C6A8}"/>
              </a:ext>
            </a:extLst>
          </p:cNvPr>
          <p:cNvSpPr txBox="1"/>
          <p:nvPr/>
        </p:nvSpPr>
        <p:spPr>
          <a:xfrm>
            <a:off x="1870841" y="457990"/>
            <a:ext cx="7756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Создадим новый файл 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NewRomanPSMT"/>
              </a:rPr>
              <a:t>file4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  <a:r>
              <a:rPr lang="en-US" dirty="0">
                <a:solidFill>
                  <a:srgbClr val="000000"/>
                </a:solidFill>
                <a:latin typeface="TimesNewRomanPSMT"/>
              </a:rPr>
              <a:t>txt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, с которым далее будем работать.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638FDB-0592-481F-A36E-96014B52D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59" y="2242870"/>
            <a:ext cx="6345107" cy="415714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6C010B-5634-47B6-80B6-BA946D020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67" y="1503116"/>
            <a:ext cx="9011908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8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D0F609-D09F-4826-A695-32289E48AD9F}"/>
              </a:ext>
            </a:extLst>
          </p:cNvPr>
          <p:cNvSpPr txBox="1"/>
          <p:nvPr/>
        </p:nvSpPr>
        <p:spPr>
          <a:xfrm>
            <a:off x="509752" y="96229"/>
            <a:ext cx="102686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Мы находимся в ветке </a:t>
            </a:r>
            <a:r>
              <a:rPr lang="ru-RU" sz="2000" i="0" dirty="0" err="1">
                <a:solidFill>
                  <a:srgbClr val="000000"/>
                </a:solidFill>
                <a:effectLst/>
                <a:latin typeface="TimesNewRomanPSMT"/>
              </a:rPr>
              <a:t>vetka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 и у нас создан новый файл, который не</a:t>
            </a:r>
            <a:b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залит на </a:t>
            </a:r>
            <a:r>
              <a:rPr lang="ru-RU" sz="2000" i="0" dirty="0" err="1">
                <a:solidFill>
                  <a:srgbClr val="000000"/>
                </a:solidFill>
                <a:effectLst/>
                <a:latin typeface="TimesNewRomanPSMT"/>
              </a:rPr>
              <a:t>GitHub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  <a:b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Добавим содержимое файла в индекс, введя команду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MT"/>
              </a:rPr>
              <a:t>add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-ItalicMT"/>
              </a:rPr>
              <a:t>имя_файла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-ItalicMT"/>
              </a:rPr>
              <a:t>.</a:t>
            </a:r>
            <a:br>
              <a:rPr lang="ru-RU" sz="2000" i="0" dirty="0">
                <a:solidFill>
                  <a:srgbClr val="000000"/>
                </a:solidFill>
                <a:effectLst/>
                <a:latin typeface="TimesNewRomanPS-ItalicMT"/>
              </a:rPr>
            </a:b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Далее </a:t>
            </a:r>
            <a:r>
              <a:rPr lang="ru-RU" sz="2000" i="0" dirty="0" err="1">
                <a:solidFill>
                  <a:srgbClr val="000000"/>
                </a:solidFill>
                <a:effectLst/>
                <a:latin typeface="TimesNewRomanPSMT"/>
              </a:rPr>
              <a:t>закоммитим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 изменения в новую ветку, введя команду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MT"/>
              </a:rPr>
              <a:t>commit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-ItalicMT"/>
              </a:rPr>
              <a:t>–m</a:t>
            </a:r>
            <a:br>
              <a:rPr lang="ru-RU" sz="2000" i="0" dirty="0">
                <a:solidFill>
                  <a:srgbClr val="000000"/>
                </a:solidFill>
                <a:effectLst/>
                <a:latin typeface="TimesNewRomanPS-ItalicMT"/>
              </a:rPr>
            </a:br>
            <a:r>
              <a:rPr lang="ru-RU" sz="2000" i="1" dirty="0">
                <a:solidFill>
                  <a:srgbClr val="000000"/>
                </a:solidFill>
                <a:effectLst/>
                <a:latin typeface="TimesNewRomanPS-ItalicMT"/>
              </a:rPr>
              <a:t>“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-ItalicMT"/>
              </a:rPr>
              <a:t>Commit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-ItalicMT"/>
              </a:rPr>
              <a:t>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-ItalicMT"/>
              </a:rPr>
              <a:t>new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-ItalicMT"/>
              </a:rPr>
              <a:t>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-ItalicMT"/>
              </a:rPr>
              <a:t>vetka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-ItalicMT"/>
              </a:rPr>
              <a:t>”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-ItalicMT"/>
              </a:rPr>
              <a:t>. 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И используя команду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0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000" i="1" dirty="0" err="1">
                <a:solidFill>
                  <a:srgbClr val="000000"/>
                </a:solidFill>
                <a:effectLst/>
                <a:latin typeface="TimesNewRomanPSMT"/>
              </a:rPr>
              <a:t>push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, внесем изменения в</a:t>
            </a:r>
            <a:r>
              <a:rPr lang="en-US" sz="20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репозиторий </a:t>
            </a:r>
            <a:r>
              <a:rPr lang="ru-RU" sz="2000" i="0" dirty="0" err="1">
                <a:solidFill>
                  <a:srgbClr val="000000"/>
                </a:solidFill>
                <a:effectLst/>
                <a:latin typeface="TimesNewRomanPSMT"/>
              </a:rPr>
              <a:t>GitHub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  <a:b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BFF589-46DE-4CEF-8616-A6E27669FC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387" t="7050"/>
          <a:stretch/>
        </p:blipFill>
        <p:spPr>
          <a:xfrm>
            <a:off x="175877" y="1722344"/>
            <a:ext cx="6795279" cy="491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03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37C147-426A-4AF5-8C9D-835887A838AA}"/>
              </a:ext>
            </a:extLst>
          </p:cNvPr>
          <p:cNvSpPr txBox="1"/>
          <p:nvPr/>
        </p:nvSpPr>
        <p:spPr>
          <a:xfrm>
            <a:off x="840827" y="368312"/>
            <a:ext cx="99638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Возникла ошибка: Текущая ветка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vetka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 не имеет вышестоящей ветки.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подсказывает нам, какую команду использовать: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push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--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set-upstream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origin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vetka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144085-D98A-45CF-8DCB-D49279FF3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66" y="1650313"/>
            <a:ext cx="10336067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433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E41A5F-90C2-4BC3-8598-2730D527EC5A}"/>
              </a:ext>
            </a:extLst>
          </p:cNvPr>
          <p:cNvSpPr txBox="1"/>
          <p:nvPr/>
        </p:nvSpPr>
        <p:spPr>
          <a:xfrm>
            <a:off x="1208689" y="373907"/>
            <a:ext cx="7399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Посмотрим, что изменилось на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GitHub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:</a:t>
            </a: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9835CB-185B-4DEA-947F-BE126F15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5" y="980733"/>
            <a:ext cx="11965070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499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A818D-143F-49DB-A438-82C25FDB791F}"/>
              </a:ext>
            </a:extLst>
          </p:cNvPr>
          <p:cNvSpPr txBox="1"/>
          <p:nvPr/>
        </p:nvSpPr>
        <p:spPr>
          <a:xfrm>
            <a:off x="1261242" y="36913"/>
            <a:ext cx="75884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Посмотрим список всех созданных веток:</a:t>
            </a:r>
            <a:r>
              <a:rPr lang="en-US" sz="2400" dirty="0">
                <a:solidFill>
                  <a:srgbClr val="000000"/>
                </a:solidFill>
                <a:latin typeface="TimesNewRomanPSMT"/>
              </a:rPr>
              <a:t> git branch –a</a:t>
            </a:r>
            <a:br>
              <a:rPr lang="en-US" sz="2400" dirty="0">
                <a:solidFill>
                  <a:srgbClr val="000000"/>
                </a:solidFill>
                <a:latin typeface="TimesNewRomanPSMT"/>
              </a:rPr>
            </a:br>
            <a:endParaRPr lang="uk-UA" sz="2400" dirty="0">
              <a:solidFill>
                <a:srgbClr val="000000"/>
              </a:solidFill>
              <a:latin typeface="TimesNewRomanPSM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E2AC49-8E77-44C4-A3EA-774954280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730" y="688086"/>
            <a:ext cx="7220607" cy="1985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A7885D-94CD-44EE-B224-2A388B0C5B32}"/>
              </a:ext>
            </a:extLst>
          </p:cNvPr>
          <p:cNvSpPr txBox="1"/>
          <p:nvPr/>
        </p:nvSpPr>
        <p:spPr>
          <a:xfrm>
            <a:off x="833210" y="2677330"/>
            <a:ext cx="96064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Самостоятельно перейдите на другую ветку и посмотрите все ветки и в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какой находимся мы: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522D88-5F20-40B1-AE51-0905CA920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826" y="3614391"/>
            <a:ext cx="6837511" cy="272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607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E9B0AC-E4A3-45A0-919E-BA8B3EB279D7}"/>
              </a:ext>
            </a:extLst>
          </p:cNvPr>
          <p:cNvSpPr txBox="1"/>
          <p:nvPr/>
        </p:nvSpPr>
        <p:spPr>
          <a:xfrm>
            <a:off x="732526" y="238458"/>
            <a:ext cx="105103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Удаление веток происходит при помощи команды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branch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-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-ItalicMT"/>
              </a:rPr>
              <a:t>d &lt;имя ветки&gt;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. Этот ключ выдаст предупреждение, если в ветке находятся изменения, которые не «слились» с основной веткой. Если хотите удалить без предупреждений, тогда нужно использовать ключ -D.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B5540-64B3-473E-86C7-DC64582FA924}"/>
              </a:ext>
            </a:extLst>
          </p:cNvPr>
          <p:cNvSpPr txBox="1"/>
          <p:nvPr/>
        </p:nvSpPr>
        <p:spPr>
          <a:xfrm>
            <a:off x="732526" y="1115622"/>
            <a:ext cx="107269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Самостоятельно создайте новый файл и поместите его на ветку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feature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, посмотрите изменения на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GitHub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</a:p>
          <a:p>
            <a:r>
              <a:rPr lang="en-US" sz="1800" i="0" dirty="0">
                <a:solidFill>
                  <a:srgbClr val="000000"/>
                </a:solidFill>
                <a:effectLst/>
                <a:latin typeface="TimesNewRomanPSMT"/>
              </a:rPr>
              <a:t>1. git checkout feature  2.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создать файл 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NewRomanPSMT"/>
              </a:rPr>
              <a:t>3. git add 4. git commit 5. git push</a:t>
            </a:r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B1DDA2-9369-4ED1-A30B-81202A515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631" y="1901310"/>
            <a:ext cx="8566848" cy="441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81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22F596E-80AF-4A4B-B064-B8646582A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27" y="245094"/>
            <a:ext cx="4143953" cy="367716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4AF46A-6CBD-4334-A72B-A589BCB2F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27" y="4019377"/>
            <a:ext cx="5298652" cy="247684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A70888-CE37-4E8B-B716-42101BE22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117" y="1061883"/>
            <a:ext cx="6201103" cy="431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31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748431E-5D98-4EFE-94D5-AF31C9D3E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25" y="922676"/>
            <a:ext cx="9785130" cy="519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44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9D3E07-0624-4FC2-939F-2DCB93906D12}"/>
              </a:ext>
            </a:extLst>
          </p:cNvPr>
          <p:cNvSpPr txBox="1"/>
          <p:nvPr/>
        </p:nvSpPr>
        <p:spPr>
          <a:xfrm>
            <a:off x="1240221" y="103689"/>
            <a:ext cx="94593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В первую очередь изучим копирование репозиториев на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GitHub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Зайдите в свой аккаунт и найдите любой репозиторий, например,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sz="2400" i="0" dirty="0">
                <a:solidFill>
                  <a:srgbClr val="0563C1"/>
                </a:solidFill>
                <a:effectLst/>
                <a:latin typeface="TimesNewRomanPSMT"/>
              </a:rPr>
              <a:t>https://github.com/Julia0805/TestForDA.git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. Находим кнопку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Fork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и создаем новый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форк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: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8843D8-011F-440A-92E5-2172529D7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510" y="1842985"/>
            <a:ext cx="8691920" cy="23401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812C0E-A39E-4BC6-ABF4-8CF76F94F4D4}"/>
              </a:ext>
            </a:extLst>
          </p:cNvPr>
          <p:cNvSpPr txBox="1"/>
          <p:nvPr/>
        </p:nvSpPr>
        <p:spPr>
          <a:xfrm>
            <a:off x="2237250" y="5147469"/>
            <a:ext cx="95343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Появляется окно создания. Измените имя репозитория: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047999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1A4EBC-CF4F-483F-8B26-C27A773CB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132" y="546450"/>
            <a:ext cx="8149735" cy="604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671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6A10C9-A5E9-4C40-8EF7-0DC377A20CC4}"/>
              </a:ext>
            </a:extLst>
          </p:cNvPr>
          <p:cNvSpPr txBox="1"/>
          <p:nvPr/>
        </p:nvSpPr>
        <p:spPr>
          <a:xfrm>
            <a:off x="1124191" y="298470"/>
            <a:ext cx="97956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Начинается процесс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форкинга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, который займет несколько секунд: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В итоге в списке ваших репозиториев появится новый: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B41AA-CA80-4EEB-A224-940AA6F7730C}"/>
              </a:ext>
            </a:extLst>
          </p:cNvPr>
          <p:cNvSpPr txBox="1"/>
          <p:nvPr/>
        </p:nvSpPr>
        <p:spPr>
          <a:xfrm>
            <a:off x="977462" y="2789575"/>
            <a:ext cx="10720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Теперь вы можете с ним работать, если клонируете на свой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компьютер.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2D8961-E7B5-4579-9197-9E046762C3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69" t="6322" r="18522" b="25674"/>
          <a:stretch/>
        </p:blipFill>
        <p:spPr>
          <a:xfrm>
            <a:off x="3058510" y="1075433"/>
            <a:ext cx="4466897" cy="162369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98881D-91BB-49D8-A7B6-9B0F109D5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726" y="3429000"/>
            <a:ext cx="9010569" cy="286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14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655E1A-DF1A-40BB-8BB9-8E43A90529BA}"/>
              </a:ext>
            </a:extLst>
          </p:cNvPr>
          <p:cNvSpPr txBox="1"/>
          <p:nvPr/>
        </p:nvSpPr>
        <p:spPr>
          <a:xfrm>
            <a:off x="2312276" y="575155"/>
            <a:ext cx="6611006" cy="466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solidFill>
                  <a:srgbClr val="000000"/>
                </a:solidFill>
                <a:effectLst/>
                <a:latin typeface="TimesNewRomanPS-BoldMT"/>
              </a:rPr>
              <a:t>Слияние веток и получение изменений</a:t>
            </a:r>
            <a:endParaRPr lang="uk-UA" sz="2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307766D-423C-4A9B-B524-81D7B4FBD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501" y="1274564"/>
            <a:ext cx="9753601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Так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как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у вас нет прав на прямую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запись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чужой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репозиторий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создайте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свою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личную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копию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проекта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Откройте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страницу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репозитория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 браузере (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например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https://github.com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 правом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верхнем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углу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нажмите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кнопку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Fork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Проект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скопируется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в ваш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личный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профиль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будет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доступен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по адресу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https://github.com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0EA79-3616-4DDD-BA78-57FAE0ADB6BD}"/>
              </a:ext>
            </a:extLst>
          </p:cNvPr>
          <p:cNvSpPr txBox="1"/>
          <p:nvPr/>
        </p:nvSpPr>
        <p:spPr>
          <a:xfrm>
            <a:off x="1954924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dirty="0">
                <a:solidFill>
                  <a:srgbClr val="000000"/>
                </a:solidFill>
                <a:effectLst/>
                <a:latin typeface="TimesNewRomanPSMT"/>
              </a:rPr>
              <a:t>  </a:t>
            </a:r>
            <a:r>
              <a:rPr lang="uk-UA" sz="1800" dirty="0">
                <a:hlinkClick r:id="rId2"/>
              </a:rPr>
              <a:t>https://github.com/Julia0805/TestForDA.git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156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E606C3-C012-42CD-AAD1-A0A101102B3B}"/>
              </a:ext>
            </a:extLst>
          </p:cNvPr>
          <p:cNvSpPr txBox="1"/>
          <p:nvPr/>
        </p:nvSpPr>
        <p:spPr>
          <a:xfrm>
            <a:off x="746234" y="871623"/>
            <a:ext cx="107415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/>
              <a:t>Склонируйте</a:t>
            </a:r>
            <a:r>
              <a:rPr lang="ru-RU" sz="2400" dirty="0"/>
              <a:t> репозиторий уже из своего аккаунта к себе на ПК:  </a:t>
            </a:r>
            <a:r>
              <a:rPr lang="uk-UA" sz="2400" dirty="0">
                <a:hlinkClick r:id="rId2"/>
              </a:rPr>
              <a:t>https://github.com/Julia0805/TestForDA.git</a:t>
            </a:r>
            <a:endParaRPr lang="en-US" sz="2400" dirty="0"/>
          </a:p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Команда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cd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test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перейдет в каталог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test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en-US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566AC1-C9EA-405A-9FD5-A6F0225CE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93" y="2736915"/>
            <a:ext cx="10688542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0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CF17F1-DA56-440C-94A0-1178BC3786AF}"/>
              </a:ext>
            </a:extLst>
          </p:cNvPr>
          <p:cNvSpPr txBox="1"/>
          <p:nvPr/>
        </p:nvSpPr>
        <p:spPr>
          <a:xfrm>
            <a:off x="714703" y="485819"/>
            <a:ext cx="1017401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  <a:t>Далее создадим новую ветку </a:t>
            </a:r>
            <a:r>
              <a:rPr lang="ru-RU" sz="2200" i="0" dirty="0" err="1">
                <a:solidFill>
                  <a:srgbClr val="000000"/>
                </a:solidFill>
                <a:effectLst/>
                <a:latin typeface="TimesNewRomanPSMT"/>
              </a:rPr>
              <a:t>mergevetka</a:t>
            </a:r>
            <a: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  <a:t> и перейдем на нее:</a:t>
            </a:r>
            <a:b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2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2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200" i="1" dirty="0" err="1">
                <a:solidFill>
                  <a:srgbClr val="000000"/>
                </a:solidFill>
                <a:effectLst/>
                <a:latin typeface="TimesNewRomanPSMT"/>
              </a:rPr>
              <a:t>branch</a:t>
            </a:r>
            <a:r>
              <a:rPr lang="ru-RU" sz="22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200" i="1" dirty="0" err="1">
                <a:solidFill>
                  <a:srgbClr val="000000"/>
                </a:solidFill>
                <a:effectLst/>
                <a:latin typeface="TimesNewRomanPSMT"/>
              </a:rPr>
              <a:t>mergevetka</a:t>
            </a:r>
            <a:b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2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2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200" i="1" dirty="0" err="1">
                <a:solidFill>
                  <a:srgbClr val="000000"/>
                </a:solidFill>
                <a:effectLst/>
                <a:latin typeface="TimesNewRomanPSMT"/>
              </a:rPr>
              <a:t>checkout</a:t>
            </a:r>
            <a:r>
              <a:rPr lang="ru-RU" sz="22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200" i="1" dirty="0" err="1">
                <a:solidFill>
                  <a:srgbClr val="000000"/>
                </a:solidFill>
                <a:effectLst/>
                <a:latin typeface="TimesNewRomanPSMT"/>
              </a:rPr>
              <a:t>mergevetka</a:t>
            </a:r>
            <a:b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  <a:t>Команда </a:t>
            </a:r>
            <a:r>
              <a:rPr lang="ru-RU" sz="22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2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200" i="1" dirty="0" err="1">
                <a:solidFill>
                  <a:srgbClr val="000000"/>
                </a:solidFill>
                <a:effectLst/>
                <a:latin typeface="TimesNewRomanPSMT"/>
              </a:rPr>
              <a:t>branch</a:t>
            </a:r>
            <a:r>
              <a:rPr lang="ru-RU" sz="22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  <a:t>без указания имени ветки выводит список всех</a:t>
            </a:r>
            <a:r>
              <a:rPr lang="en-US" sz="22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  <a:t>локальных веток в текущей директории:</a:t>
            </a:r>
            <a:br>
              <a:rPr lang="ru-RU" sz="22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F73711-6630-4775-8F8C-BD3CFD48B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809" y="2955665"/>
            <a:ext cx="8249801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849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9BBB4B-A337-4BDB-95CC-6C60CA1D3454}"/>
              </a:ext>
            </a:extLst>
          </p:cNvPr>
          <p:cNvSpPr txBox="1"/>
          <p:nvPr/>
        </p:nvSpPr>
        <p:spPr>
          <a:xfrm>
            <a:off x="78828" y="240323"/>
            <a:ext cx="109622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Создадим новый текстовый файл, добавим его в индекс и проверим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статус. Все команды уже известны.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add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file.txt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commit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-m "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Added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file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"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status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76D59D-7464-49C6-B223-E5417B805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882" y="1261125"/>
            <a:ext cx="8011415" cy="43293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091305-E825-4FAD-A02D-0E91AB5EA4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863"/>
          <a:stretch/>
        </p:blipFill>
        <p:spPr>
          <a:xfrm>
            <a:off x="3465882" y="5557461"/>
            <a:ext cx="8011415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41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0E5EE0-D6BA-480E-8A5C-D445AA4351CC}"/>
              </a:ext>
            </a:extLst>
          </p:cNvPr>
          <p:cNvSpPr txBox="1"/>
          <p:nvPr/>
        </p:nvSpPr>
        <p:spPr>
          <a:xfrm>
            <a:off x="830316" y="527832"/>
            <a:ext cx="104998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Далее введем следующую команду, с которой мы позже познакомимся. Она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позволяет внести изменения в удаленный репозиторий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 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push</a:t>
            </a:r>
            <a:endParaRPr lang="uk-UA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FB83D9-2A66-4012-80BE-27E4E7A11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59" y="1358829"/>
            <a:ext cx="8954750" cy="216247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9D6987-1C89-49A6-9B0B-08EA1D502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659" y="3521306"/>
            <a:ext cx="8954750" cy="317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005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B19D2A-E8D0-43DB-89A7-EABA6DD9B74C}"/>
              </a:ext>
            </a:extLst>
          </p:cNvPr>
          <p:cNvSpPr txBox="1"/>
          <p:nvPr/>
        </p:nvSpPr>
        <p:spPr>
          <a:xfrm>
            <a:off x="1093076" y="194552"/>
            <a:ext cx="103001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Переключимся на ветку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master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. Именно она станет принимающей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изменения. Далее следует убедиться, что в обеих ветка содержатся последние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изменения из удаленного репозитория. Выполните команду, позволяющую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получить из него последние изменения: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fetch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4F5D0E-CFF6-432B-AB87-6D67FAAC7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667" y="2299091"/>
            <a:ext cx="9198602" cy="2329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9DE8DC-2950-4BB1-831E-4CD3E6CB990A}"/>
              </a:ext>
            </a:extLst>
          </p:cNvPr>
          <p:cNvSpPr txBox="1"/>
          <p:nvPr/>
        </p:nvSpPr>
        <p:spPr>
          <a:xfrm>
            <a:off x="1266495" y="5163001"/>
            <a:ext cx="102108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После указанных выше действий можно делать слияние.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Для этого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существует команда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1" dirty="0" err="1">
                <a:solidFill>
                  <a:srgbClr val="000000"/>
                </a:solidFill>
                <a:effectLst/>
                <a:latin typeface="TimesNewRomanPSMT"/>
              </a:rPr>
              <a:t>merge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1" dirty="0">
                <a:solidFill>
                  <a:srgbClr val="000000"/>
                </a:solidFill>
                <a:effectLst/>
                <a:latin typeface="TimesNewRomanPS-ItalicMT"/>
              </a:rPr>
              <a:t>&lt;название сливаемой ветки&gt;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336840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EB93F3D-D70A-40C2-A4A4-C8D3963AD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551" y="209083"/>
            <a:ext cx="8459381" cy="2362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23A06E-7323-4437-8988-FE40DD98C0D3}"/>
              </a:ext>
            </a:extLst>
          </p:cNvPr>
          <p:cNvSpPr txBox="1"/>
          <p:nvPr/>
        </p:nvSpPr>
        <p:spPr>
          <a:xfrm>
            <a:off x="1103586" y="2781465"/>
            <a:ext cx="10310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Все прошло успешно: мы сделали слияние ветки </a:t>
            </a:r>
            <a:r>
              <a:rPr lang="ru-RU" sz="2000" i="0" dirty="0" err="1">
                <a:solidFill>
                  <a:srgbClr val="000000"/>
                </a:solidFill>
                <a:effectLst/>
                <a:latin typeface="TimesNewRomanPSMT"/>
              </a:rPr>
              <a:t>mergevetka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 с веткой </a:t>
            </a:r>
            <a:r>
              <a:rPr lang="ru-RU" sz="2000" i="0" dirty="0" err="1">
                <a:solidFill>
                  <a:srgbClr val="000000"/>
                </a:solidFill>
                <a:effectLst/>
                <a:latin typeface="TimesNewRomanPSMT"/>
              </a:rPr>
              <a:t>ma</a:t>
            </a:r>
            <a:r>
              <a:rPr lang="en-US" sz="2000" i="0" dirty="0">
                <a:solidFill>
                  <a:srgbClr val="000000"/>
                </a:solidFill>
                <a:effectLst/>
                <a:latin typeface="TimesNewRomanPSMT"/>
              </a:rPr>
              <a:t>in</a:t>
            </a:r>
            <a:r>
              <a:rPr lang="ru-RU" sz="200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  <a:endParaRPr lang="uk-UA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C4541-D08C-4370-93F0-91E5C64342DE}"/>
              </a:ext>
            </a:extLst>
          </p:cNvPr>
          <p:cNvSpPr txBox="1"/>
          <p:nvPr/>
        </p:nvSpPr>
        <p:spPr>
          <a:xfrm>
            <a:off x="1208690" y="3076261"/>
            <a:ext cx="10636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Проверим команды: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branch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--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merged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main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– показывает ветки, объединенные с указанной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NewRomanPSMT"/>
              </a:rPr>
              <a:t> 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веткой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branch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--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no-merged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– перечисляет ветки, которые не были объединены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C1B79C3-31A7-4290-9284-D518DAB2D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551" y="4026451"/>
            <a:ext cx="8723586" cy="18838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E86331-744E-4FB9-9532-3D1B38981A26}"/>
              </a:ext>
            </a:extLst>
          </p:cNvPr>
          <p:cNvSpPr txBox="1"/>
          <p:nvPr/>
        </p:nvSpPr>
        <p:spPr>
          <a:xfrm>
            <a:off x="2648607" y="606341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Так видно, что ветка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mergevetka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 слита с веткой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master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.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600930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8A058CB-5BDF-41FC-A436-71A445DF0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739" y="296999"/>
            <a:ext cx="9002141" cy="604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010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6A5592-4901-4BFF-9C22-DC8732682618}"/>
              </a:ext>
            </a:extLst>
          </p:cNvPr>
          <p:cNvSpPr txBox="1"/>
          <p:nvPr/>
        </p:nvSpPr>
        <p:spPr>
          <a:xfrm>
            <a:off x="3048000" y="18854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1" i="0" dirty="0" err="1">
                <a:solidFill>
                  <a:srgbClr val="000000"/>
                </a:solidFill>
                <a:effectLst/>
                <a:latin typeface="TimesNewRomanPS-BoldMT"/>
              </a:rPr>
              <a:t>Клонирование</a:t>
            </a:r>
            <a:r>
              <a:rPr lang="uk-UA" sz="2400" b="1" i="0" dirty="0">
                <a:solidFill>
                  <a:srgbClr val="000000"/>
                </a:solidFill>
                <a:effectLst/>
                <a:latin typeface="TimesNewRomanPS-BoldMT"/>
              </a:rPr>
              <a:t> (загрузка)</a:t>
            </a:r>
            <a:endParaRPr lang="uk-UA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0F01A-7234-4290-98C6-25CF7DFE407A}"/>
              </a:ext>
            </a:extLst>
          </p:cNvPr>
          <p:cNvSpPr txBox="1"/>
          <p:nvPr/>
        </p:nvSpPr>
        <p:spPr>
          <a:xfrm>
            <a:off x="830317" y="650213"/>
            <a:ext cx="101950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Допустим, мы нашли на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GitHub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 репозиторий, который хотим изучить. Клонирование (загрузка) репозитория, который уже существует на </a:t>
            </a:r>
            <a:r>
              <a:rPr lang="ru-RU" sz="1800" i="0" dirty="0" err="1">
                <a:solidFill>
                  <a:srgbClr val="000000"/>
                </a:solidFill>
                <a:effectLst/>
                <a:latin typeface="TimesNewRomanPSMT"/>
              </a:rPr>
              <a:t>GitHub</a:t>
            </a:r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, включая все файлы, ветви и фиксации, осуществляется следующей командой: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git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clone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 [</a:t>
            </a:r>
            <a:r>
              <a:rPr lang="ru-RU" sz="1800" i="1" dirty="0" err="1">
                <a:solidFill>
                  <a:srgbClr val="000000"/>
                </a:solidFill>
                <a:effectLst/>
                <a:latin typeface="TimesNewRomanPSMT"/>
              </a:rPr>
              <a:t>url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NewRomanPSMT"/>
              </a:rPr>
              <a:t>]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28B0BB-8031-4152-BEA6-333D4443F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648" y="1632632"/>
            <a:ext cx="8986345" cy="476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39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06CE1B-B026-429E-8BAD-6B8279DB399C}"/>
              </a:ext>
            </a:extLst>
          </p:cNvPr>
          <p:cNvSpPr txBox="1"/>
          <p:nvPr/>
        </p:nvSpPr>
        <p:spPr>
          <a:xfrm>
            <a:off x="1608082" y="552582"/>
            <a:ext cx="8156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  <a:t>После загрузки мы можем спокойно работать со скаченным репозиторием.</a:t>
            </a:r>
            <a:br>
              <a:rPr lang="ru-RU" sz="18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F66A1E-DDC9-43D7-A383-823E251D9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252" y="1351727"/>
            <a:ext cx="8983329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209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636CA3-948C-4FF0-8B85-7DB4424F4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74" y="315455"/>
            <a:ext cx="10317051" cy="250131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DDF981-5394-47DC-A198-98B106125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586" y="2897033"/>
            <a:ext cx="6334881" cy="354040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9802F0-0116-414C-8F31-07FBDE975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33" y="3253787"/>
            <a:ext cx="5338812" cy="328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3623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7B8F0-A666-4739-A40D-F8CAB34198BC}"/>
              </a:ext>
            </a:extLst>
          </p:cNvPr>
          <p:cNvSpPr txBox="1"/>
          <p:nvPr/>
        </p:nvSpPr>
        <p:spPr>
          <a:xfrm>
            <a:off x="2175642" y="27931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800" b="1" i="0" dirty="0" err="1">
                <a:solidFill>
                  <a:srgbClr val="000000"/>
                </a:solidFill>
                <a:effectLst/>
                <a:latin typeface="TimesNewRomanPS-BoldMT"/>
              </a:rPr>
              <a:t>Итоговое</a:t>
            </a:r>
            <a:r>
              <a:rPr lang="uk-UA" sz="2800" b="1" i="0" dirty="0">
                <a:solidFill>
                  <a:srgbClr val="000000"/>
                </a:solidFill>
                <a:effectLst/>
                <a:latin typeface="TimesNewRomanPS-BoldMT"/>
              </a:rPr>
              <a:t> </a:t>
            </a:r>
            <a:r>
              <a:rPr lang="uk-UA" sz="2800" b="1" i="0" dirty="0" err="1">
                <a:solidFill>
                  <a:srgbClr val="000000"/>
                </a:solidFill>
                <a:effectLst/>
                <a:latin typeface="TimesNewRomanPS-BoldMT"/>
              </a:rPr>
              <a:t>задание</a:t>
            </a:r>
            <a:endParaRPr lang="uk-UA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5408C-869E-4666-8933-F256388D8B7B}"/>
              </a:ext>
            </a:extLst>
          </p:cNvPr>
          <p:cNvSpPr txBox="1"/>
          <p:nvPr/>
        </p:nvSpPr>
        <p:spPr>
          <a:xfrm>
            <a:off x="1161393" y="911157"/>
            <a:ext cx="98692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1" dirty="0">
                <a:solidFill>
                  <a:srgbClr val="000000"/>
                </a:solidFill>
                <a:effectLst/>
                <a:latin typeface="TimesNewRomanPS-BoldItalicMT"/>
              </a:rPr>
              <a:t>Задание: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-BoldItalic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-BoldItalicMT"/>
              </a:rPr>
              <a:t>1.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Скопируйте репозиторий 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https://github.com/Julia0805/TestForDA.git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на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ваш компьютер.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2. Создайте новую ветку с названием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new_feature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и переключитесь на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нее.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3. В эту ветку добавьте файл description.txt, содержащий текстовое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описание используемых переменных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и </a:t>
            </a:r>
            <a:r>
              <a:rPr lang="uk-UA" sz="2400" i="0" dirty="0" err="1">
                <a:solidFill>
                  <a:srgbClr val="000000"/>
                </a:solidFill>
                <a:effectLst/>
                <a:latin typeface="TimesNewRomanPSMT"/>
              </a:rPr>
              <a:t>функций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endParaRPr lang="uk-UA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CCCC9F-BE5E-444E-9583-201ED941C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10" y="3870237"/>
            <a:ext cx="9892634" cy="5948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BFDEEF-74FD-4FE4-9E03-A2BE18874CEC}"/>
              </a:ext>
            </a:extLst>
          </p:cNvPr>
          <p:cNvSpPr txBox="1"/>
          <p:nvPr/>
        </p:nvSpPr>
        <p:spPr>
          <a:xfrm>
            <a:off x="1001110" y="4746513"/>
            <a:ext cx="10189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</a:rPr>
              <a:t>4.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Сделайте коммит с комментарием “3: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Added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description.txt”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5. Снова в эту ветку добавьте еще один </a:t>
            </a:r>
            <a:r>
              <a:rPr lang="en-US" sz="2400" i="0" dirty="0">
                <a:solidFill>
                  <a:srgbClr val="000000"/>
                </a:solidFill>
                <a:effectLst/>
                <a:latin typeface="TimesNewRomanPSMT"/>
              </a:rPr>
              <a:t>Python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файл содержащий ваши функции: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запрограмированые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меры центральной тенденции в статистике</a:t>
            </a:r>
            <a:r>
              <a:rPr lang="en-US" sz="2400" dirty="0">
                <a:solidFill>
                  <a:srgbClr val="000000"/>
                </a:solidFill>
                <a:latin typeface="TimesNewRomanPS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14551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8342F9-5E89-4BBC-A772-8CAE764DFCDF}"/>
              </a:ext>
            </a:extLst>
          </p:cNvPr>
          <p:cNvSpPr txBox="1"/>
          <p:nvPr/>
        </p:nvSpPr>
        <p:spPr>
          <a:xfrm>
            <a:off x="1208691" y="1030970"/>
            <a:ext cx="96064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i="0" dirty="0">
                <a:solidFill>
                  <a:srgbClr val="000000"/>
                </a:solidFill>
                <a:effectLst/>
              </a:rPr>
              <a:t>7. 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Снова сделайте коммит также внутри этой ветке с сообщением “56: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Added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uk-UA" sz="2400" i="0" dirty="0">
                <a:solidFill>
                  <a:srgbClr val="000000"/>
                </a:solidFill>
                <a:effectLst/>
                <a:latin typeface="TimesNewRomanPSMT"/>
              </a:rPr>
              <a:t>ВАШ ФАЙЛ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”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8. Постройте граф истории всего репозитория с однострочным выводом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коммитов.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9. Постройте граф истории только текущей ветки. В ней должно быть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два последних коммита.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10. Возьмите хэши двух последних коммитов из истории и посмотрите,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какие изменения были внесены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11. Удалим ветку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new_features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без слияния (сделаем это только в рамках</a:t>
            </a:r>
            <a:b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данной лабораторной работы). </a:t>
            </a:r>
          </a:p>
          <a:p>
            <a:endParaRPr lang="ru-RU" sz="2400" dirty="0">
              <a:solidFill>
                <a:srgbClr val="000000"/>
              </a:solidFill>
              <a:latin typeface="TimesNewRomanPSMT"/>
            </a:endParaRPr>
          </a:p>
          <a:p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Примечание: нельзя удалить ветку, на </a:t>
            </a:r>
            <a:r>
              <a:rPr lang="ru-RU" sz="2400" i="0" dirty="0" err="1">
                <a:solidFill>
                  <a:srgbClr val="000000"/>
                </a:solidFill>
                <a:effectLst/>
                <a:latin typeface="TimesNewRomanPSMT"/>
              </a:rPr>
              <a:t>которойнаходится</a:t>
            </a:r>
            <a:r>
              <a:rPr lang="ru-RU" sz="2400" i="0" dirty="0">
                <a:solidFill>
                  <a:srgbClr val="000000"/>
                </a:solidFill>
                <a:effectLst/>
                <a:latin typeface="TimesNewRomanPSMT"/>
              </a:rPr>
              <a:t> HEAD.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9707433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14B64C-4191-4B40-A511-654740501E78}"/>
              </a:ext>
            </a:extLst>
          </p:cNvPr>
          <p:cNvSpPr txBox="1"/>
          <p:nvPr/>
        </p:nvSpPr>
        <p:spPr>
          <a:xfrm>
            <a:off x="3352800" y="16743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uk-UA" sz="2400" b="1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Справочник</a:t>
            </a:r>
            <a:r>
              <a:rPr lang="uk-UA" sz="2400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uk-UA" sz="2400" b="1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терминов</a:t>
            </a:r>
            <a:endParaRPr lang="uk-UA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A46EB-89EA-4008-9707-B29B4E13ABDD}"/>
              </a:ext>
            </a:extLst>
          </p:cNvPr>
          <p:cNvSpPr txBox="1"/>
          <p:nvPr/>
        </p:nvSpPr>
        <p:spPr>
          <a:xfrm>
            <a:off x="493985" y="760293"/>
            <a:ext cx="11014841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300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Репозиторий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- специальное хранилище файлов и папок проекта, изменения в которых отслеживаются. Каталог, в котором хранится файловая система проекта. Для каждого проекта создаётся отдельный репозиторий. Существуют локальные и удалённые репозитории. В первом осуществляется работа над проектом на компьютере, а второй выступает в роли хранилища.</a:t>
            </a:r>
          </a:p>
          <a:p>
            <a:pPr algn="l" rtl="0"/>
            <a:r>
              <a:rPr lang="ru-RU" sz="2300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Индекс в </a:t>
            </a:r>
            <a:r>
              <a:rPr lang="ru-RU" sz="2300" b="1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Git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— это специальная промежуточная область, в которой хранятся изменения файлов на пути от рабочей директории до репозитория. При выполнении коммита в него попадают только те изменения, которые были добавлены в индекс.</a:t>
            </a:r>
          </a:p>
          <a:p>
            <a:pPr algn="l" rtl="0"/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Один </a:t>
            </a:r>
            <a:r>
              <a:rPr lang="ru-RU" sz="2300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коммит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— это пакет изменений, хранящий информацию с добавленными, отредактированными или удалёнными файлами кода. Операция позволяет зафиксировать текущее состояние проекта.</a:t>
            </a:r>
          </a:p>
          <a:p>
            <a:pPr algn="l" rtl="0"/>
            <a:r>
              <a:rPr lang="ru-RU" sz="2300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Ветка 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– это последовательность коммитов. очерняя версия основного репозитория. Она входит в его состав, но не влияет на работу. После того, как разработчики закончат работу над новой функцией или исправят все баги, можно совместить дочерний и родительский репозитории.</a:t>
            </a:r>
          </a:p>
        </p:txBody>
      </p:sp>
    </p:spTree>
    <p:extLst>
      <p:ext uri="{BB962C8B-B14F-4D97-AF65-F5344CB8AC3E}">
        <p14:creationId xmlns:p14="http://schemas.microsoft.com/office/powerpoint/2010/main" val="14143552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3F8BE6-F7AB-4E30-8775-8FDF840A7CE2}"/>
              </a:ext>
            </a:extLst>
          </p:cNvPr>
          <p:cNvSpPr txBox="1"/>
          <p:nvPr/>
        </p:nvSpPr>
        <p:spPr>
          <a:xfrm>
            <a:off x="604345" y="197346"/>
            <a:ext cx="1098331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300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Пул и </a:t>
            </a:r>
            <a:r>
              <a:rPr lang="ru-RU" sz="2300" b="1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пуш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- первая операция позволяет выкачивать содержимое репозитория на компьютер, а вторая отправляет измененные файлы на сервер.</a:t>
            </a:r>
          </a:p>
          <a:p>
            <a:pPr algn="l" rtl="0"/>
            <a:r>
              <a:rPr lang="ru-RU" sz="2300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Мастер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- основная ветка репозитория, в которой хранится ядро проекта. В неё добавляют изменения только после тщательного тестирования.</a:t>
            </a:r>
          </a:p>
          <a:p>
            <a:pPr algn="l" rtl="0"/>
            <a:r>
              <a:rPr lang="ru-RU" sz="2300" b="1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Кодревью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- процесс проверки кода на соответствие техническому заданию или требованиям внутри команды. Когда один разработчик хочет добавить свой код в ядро, остальные члены команды проверяют его и если проблем нет, происходит обновление главной ветки.</a:t>
            </a:r>
          </a:p>
          <a:p>
            <a:pPr algn="l" rtl="0"/>
            <a:r>
              <a:rPr lang="ru-RU" sz="2300" b="1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Пулреквест</a:t>
            </a:r>
            <a:r>
              <a:rPr lang="ru-RU" sz="2300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(Pull </a:t>
            </a:r>
            <a:r>
              <a:rPr lang="ru-RU" sz="2300" b="1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Request</a:t>
            </a:r>
            <a:r>
              <a:rPr lang="ru-RU" sz="2300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)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— запрос на слияние </a:t>
            </a:r>
            <a:r>
              <a:rPr lang="ru-RU" sz="2300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форка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репозитория с основным репозиторием. </a:t>
            </a:r>
            <a:r>
              <a:rPr lang="ru-RU" sz="2300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Пулреквест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может быть принят или отклонён вами, как владельцем репозитория.</a:t>
            </a:r>
          </a:p>
          <a:p>
            <a:pPr algn="l" rtl="0"/>
            <a:r>
              <a:rPr lang="ru-RU" sz="2300" b="1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Checkout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- это команда, которая используется для переключения между ветвями.</a:t>
            </a:r>
          </a:p>
          <a:p>
            <a:pPr algn="l" rtl="0"/>
            <a:r>
              <a:rPr lang="ru-RU" sz="2300" b="1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Merge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- это команда, которая используется для объединения изменений из одной ветки в другую.</a:t>
            </a:r>
          </a:p>
          <a:p>
            <a:pPr algn="l" rtl="0"/>
            <a:r>
              <a:rPr lang="ru-RU" sz="2300" b="1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Fetch</a:t>
            </a:r>
            <a:r>
              <a:rPr lang="ru-RU" sz="23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- это команда, которая используется для извлечения изменений из удаленного репозитория в локальный репозиторий. </a:t>
            </a:r>
          </a:p>
        </p:txBody>
      </p:sp>
    </p:spTree>
    <p:extLst>
      <p:ext uri="{BB962C8B-B14F-4D97-AF65-F5344CB8AC3E}">
        <p14:creationId xmlns:p14="http://schemas.microsoft.com/office/powerpoint/2010/main" val="3490842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F0E876B-0194-4688-AC82-B8A784B2A4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7" t="5251" r="3974" b="7398"/>
          <a:stretch/>
        </p:blipFill>
        <p:spPr bwMode="auto">
          <a:xfrm>
            <a:off x="241802" y="449318"/>
            <a:ext cx="11708395" cy="640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9833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84D2F4-6D60-4247-A640-BD027B483B79}"/>
              </a:ext>
            </a:extLst>
          </p:cNvPr>
          <p:cNvSpPr txBox="1"/>
          <p:nvPr/>
        </p:nvSpPr>
        <p:spPr>
          <a:xfrm>
            <a:off x="2406869" y="957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>
                <a:hlinkClick r:id="rId2"/>
              </a:rPr>
              <a:t>https://github.com/cyberspacedk/Git-commands</a:t>
            </a:r>
            <a:endParaRPr lang="en-US" dirty="0"/>
          </a:p>
          <a:p>
            <a:r>
              <a:rPr lang="en-US" dirty="0">
                <a:hlinkClick r:id="rId3"/>
              </a:rPr>
              <a:t>https://proglib.io/p/git-cheatsheet</a:t>
            </a:r>
            <a:r>
              <a:rPr lang="en-US" dirty="0"/>
              <a:t> </a:t>
            </a: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DA9830-6613-468D-BF2A-58948D344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916" y="874725"/>
            <a:ext cx="9494089" cy="556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85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7588</TotalTime>
  <Words>2251</Words>
  <Application>Microsoft Office PowerPoint</Application>
  <PresentationFormat>Широкоэкранный</PresentationFormat>
  <Paragraphs>114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61" baseType="lpstr">
      <vt:lpstr>Arial</vt:lpstr>
      <vt:lpstr>Arial </vt:lpstr>
      <vt:lpstr>Arial Black</vt:lpstr>
      <vt:lpstr>Calibri</vt:lpstr>
      <vt:lpstr>Calibri Light</vt:lpstr>
      <vt:lpstr>Courier New</vt:lpstr>
      <vt:lpstr>Google Sans</vt:lpstr>
      <vt:lpstr>quote-cjk-patch</vt:lpstr>
      <vt:lpstr>Roboto</vt:lpstr>
      <vt:lpstr>TimesNewRomanPS-BoldItalicMT</vt:lpstr>
      <vt:lpstr>TimesNewRomanPS-BoldMT</vt:lpstr>
      <vt:lpstr>TimesNewRomanPS-ItalicMT</vt:lpstr>
      <vt:lpstr>TimesNewRomanPSMT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Артур</dc:creator>
  <cp:lastModifiedBy>Юлия Литвинчук</cp:lastModifiedBy>
  <cp:revision>206</cp:revision>
  <dcterms:created xsi:type="dcterms:W3CDTF">2026-05-10T14:46:53Z</dcterms:created>
  <dcterms:modified xsi:type="dcterms:W3CDTF">2026-06-07T21:35:35Z</dcterms:modified>
</cp:coreProperties>
</file>